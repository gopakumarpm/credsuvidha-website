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Welcome to the CredSuvidha Brand Kit presentation.</a:t>
            </a:r>
          </a:p>
          <a:p>
            <a:r>
              <a:t>[DATA]: This guide covers our visual identity including logo, colors, typography, and UI components.</a:t>
            </a:r>
          </a:p>
          <a:p>
            <a:r>
              <a:t>[TRANSITION]: Let's start with an overview of our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CredSuvidha is a fintech facilitator providing loans, credit cards, and insurance.</a:t>
            </a:r>
          </a:p>
          <a:p>
            <a:r>
              <a:t>[DATA]: 500+ Cr disbursed, 10K+ customers, 50+ banking partners, 24/7 support.</a:t>
            </a:r>
          </a:p>
          <a:p>
            <a:r>
              <a:t>[TRANSITION]: Let's look at our visual identity starting with the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The logo features interlocking C and S with a growth arrow.</a:t>
            </a:r>
          </a:p>
          <a:p>
            <a:r>
              <a:t>[DATA]: Navy blue = trust/stability, Gold = prosperity/value.</a:t>
            </a:r>
          </a:p>
          <a:p>
            <a:r>
              <a:t>[TRANSITION]: Now let's examine our color palette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Our color system has 4 families — brand blue, logo colors, accent orange, emerald.</a:t>
            </a:r>
          </a:p>
          <a:p>
            <a:r>
              <a:t>[DATA]: Primary brand color is #1A6EF5 (Brand 600). Logo uses #1B3A5C navy and #C5961E gold.</a:t>
            </a:r>
          </a:p>
          <a:p>
            <a:r>
              <a:t>[TRANSITION]: Next, let's look at our gradient specifications.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We have 6 signature gradients for different use cases.</a:t>
            </a:r>
          </a:p>
          <a:p>
            <a:r>
              <a:t>[DATA]: Primary CTA uses brand-600 → brand-500, Hero uses navy → brand-600 → brand-500.</a:t>
            </a:r>
          </a:p>
          <a:p>
            <a:r>
              <a:t>[TRANSITION]: Let's examine our typography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Two fonts — Inter for everything, Playfair Display for special headlines.</a:t>
            </a:r>
          </a:p>
          <a:p>
            <a:r>
              <a:t>[DATA]: Inter has 7 weights (300-900). Playfair Display has Bold and ExtraBold.</a:t>
            </a:r>
          </a:p>
          <a:p>
            <a:r>
              <a:t>[TRANSITION]: Let's look at how these translate into UI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4 button variants and 4 key UI effects define our component system.</a:t>
            </a:r>
          </a:p>
          <a:p>
            <a:r>
              <a:t>[DATA]: All buttons use pill shape (100px radius), transitions at 300ms.</a:t>
            </a:r>
          </a:p>
          <a:p>
            <a:r>
              <a:t>[TRANSITION]: Let's discuss our core brand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Trust, Speed, Expertise, and Simplicity are our four brand pillars.</a:t>
            </a:r>
          </a:p>
          <a:p>
            <a:r>
              <a:t>[DATA]: These values guide every decision from product design to customer service.</a:t>
            </a:r>
          </a:p>
          <a:p>
            <a:r>
              <a:t>[TRANSITION]: Let's wrap up with contact info and compliance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Contact us at +91 93076 73391 or info@credsuvidha.com.</a:t>
            </a:r>
          </a:p>
          <a:p>
            <a:r>
              <a:t>[DATA]: We maintain RBI, IRDAI, and ISO 27001 compliance across all partners.</a:t>
            </a:r>
          </a:p>
          <a:p>
            <a:r>
              <a:t>[TRANSITION]: Finally, let's review the technical specifications.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The website is a single HTML file deployed on Netlify with no build step.</a:t>
            </a:r>
          </a:p>
          <a:p>
            <a:r>
              <a:t>[DATA]: Tailwind CSS + Google Fonts + Vanilla JS. All resources are CDN-based.</a:t>
            </a:r>
          </a:p>
          <a:p>
            <a:r>
              <a:t>[TRANSITION]: Let's summarize what we've covered in this brand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Recap of all brand kit elements covered.</a:t>
            </a:r>
          </a:p>
          <a:p>
            <a:r>
              <a:t>[DATA]: 7 key areas — logo, colors, typography, buttons, values, compliance, tech.</a:t>
            </a:r>
          </a:p>
          <a:p>
            <a:r>
              <a:t>[TRANSITION]: Thank you for reviewing the CredSuvidha brand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POINT]: Thank the audience for their time.</a:t>
            </a:r>
          </a:p>
          <a:p>
            <a:r>
              <a:t>[DATA]: Provide contact details for follow-up questions.</a:t>
            </a:r>
          </a:p>
          <a:p>
            <a:r>
              <a:t>For brand kit updates or questions, reach out to info@credsuvidha.com.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0"/>
            <a:ext cx="6096304" cy="635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4114800"/>
            <a:ext cx="6095390" cy="63500"/>
          </a:xfrm>
          <a:prstGeom prst="rect">
            <a:avLst/>
          </a:prstGeom>
          <a:solidFill>
            <a:srgbClr val="C5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548640"/>
            <a:ext cx="5029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297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Brand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9B0FF"/>
                </a:solidFill>
                <a:latin typeface="Calibri"/>
              </a:rPr>
              <a:t>Visual Identity &amp; Brand Guidelines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Version 1.0  •  February 2026  •  www.credsuvidha.com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0116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B0FF"/>
                </a:solidFill>
                <a:latin typeface="Calibri"/>
              </a:rPr>
              <a:t>CredSuvidha — Trusted Partner. Swift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19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5961E"/>
                </a:solidFill>
                <a:latin typeface="Calibri"/>
              </a:rPr>
              <a:t>www.credsuvidha.com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857"/>
                </a:solidFill>
                <a:latin typeface="Calibri"/>
              </a:rPr>
              <a:t>Brand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solidFill>
            <a:srgbClr val="EEF7FF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42857"/>
                </a:solidFill>
                <a:latin typeface="Calibri"/>
              </a:rPr>
              <a:t>"Smart Financial Solutions for a Better Tomorrow"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2857"/>
                </a:solidFill>
                <a:latin typeface="Calibri"/>
              </a:rPr>
              <a:t>Trusted Partner. </a:t>
            </a:r>
            <a:r>
              <a:rPr sz="1800" b="1" i="0">
                <a:solidFill>
                  <a:srgbClr val="C5961E"/>
                </a:solidFill>
                <a:latin typeface="Calibri"/>
              </a:rPr>
              <a:t>Swift Solutions.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2377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2377440" cy="508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EF5"/>
                </a:solidFill>
                <a:latin typeface="Calibri"/>
              </a:rPr>
              <a:t>500+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Loans Disbursed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3017520"/>
            <a:ext cx="2377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3017520"/>
            <a:ext cx="2377440" cy="50800"/>
          </a:xfrm>
          <a:prstGeom prst="rect">
            <a:avLst/>
          </a:prstGeom>
          <a:solidFill>
            <a:srgbClr val="C5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5961E"/>
                </a:solidFill>
                <a:latin typeface="Calibri"/>
              </a:rPr>
              <a:t>10,000+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Happy Customers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3017520"/>
            <a:ext cx="2377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3017520"/>
            <a:ext cx="23774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  <a:latin typeface="Calibri"/>
              </a:rPr>
              <a:t>50+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Banking Partners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3017520"/>
            <a:ext cx="2377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3017520"/>
            <a:ext cx="2377440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97316"/>
                </a:solidFill>
                <a:latin typeface="Calibri"/>
              </a:rPr>
              <a:t>24/7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Expert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CredSuvidha is a modern financial services facilitator providing smart solutions across loans, credit cards, and insurance. We partner with 50+ banks to offer the best rates and fastest approvals for every Indian customer.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5760720"/>
            <a:ext cx="3017520" cy="320040"/>
          </a:xfrm>
          <a:prstGeom prst="round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7790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Financial Services (Fintech)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0116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B0FF"/>
                </a:solidFill>
                <a:latin typeface="Calibri"/>
              </a:rPr>
              <a:t>CredSuvidha — Trusted Partner. Swift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19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5961E"/>
                </a:solidFill>
                <a:latin typeface="Calibri"/>
              </a:rPr>
              <a:t>www.credsuvidha.com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3/12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857"/>
                </a:solidFill>
                <a:latin typeface="Calibri"/>
              </a:rPr>
              <a:t>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Interlocking C and S letterforms with an upward growth arrow — symbolizing financial progress and partnership.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937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3657600" cy="19950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931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Primary — Light Background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645920"/>
            <a:ext cx="5394960" cy="2560320"/>
          </a:xfrm>
          <a:prstGeom prst="rect">
            <a:avLst/>
          </a:prstGeom>
          <a:solidFill>
            <a:srgbClr val="FAF6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3657600" cy="19950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0" y="3931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On Brand Cream — #FAF6F1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2857"/>
                </a:solidFill>
                <a:latin typeface="Calibri"/>
              </a:rPr>
              <a:t>Logo Elements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EF5"/>
                </a:solidFill>
                <a:latin typeface="Calibri"/>
              </a:rPr>
              <a:t>● Symbol: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800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Interlocking C (navy) &amp; S (gold) with upward arrow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EF5"/>
                </a:solidFill>
                <a:latin typeface="Calibri"/>
              </a:rPr>
              <a:t>● Wordmark: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12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"CREDSUVIDHA.COM" in navy blue uppercase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EF5"/>
                </a:solidFill>
                <a:latin typeface="Calibri"/>
              </a:rPr>
              <a:t>● Tagline: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440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"TRUSTED PARTNER. SWIFT SOLUTIONS." in gold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EF5"/>
                </a:solidFill>
                <a:latin typeface="Calibri"/>
              </a:rPr>
              <a:t>● Min Size: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760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120px wide (digital) / 30mm (print)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✓  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●  Use on white, cream, or light backgrounds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138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●  Use inverted version on dark backgrounds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4315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●  Maintain proportions when 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✗  Don't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●  Stretch or distort the logo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5138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●  Change the logo colors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54315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●  Place on busy backgrounds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0116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B0FF"/>
                </a:solidFill>
                <a:latin typeface="Calibri"/>
              </a:rPr>
              <a:t>CredSuvidha — Trusted Partner. Swift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19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5961E"/>
                </a:solidFill>
                <a:latin typeface="Calibri"/>
              </a:rPr>
              <a:t>www.credsuvidha.com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4/12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857"/>
                </a:solidFill>
                <a:latin typeface="Calibri"/>
              </a:rPr>
              <a:t>Color Palette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Built around trust (navy blue), warmth (gold/amber), energy (orange), and growth (emerald green).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2857"/>
                </a:solidFill>
                <a:latin typeface="Calibri"/>
              </a:rPr>
              <a:t>Primary — Brand Blue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1051560" cy="594360"/>
          </a:xfrm>
          <a:prstGeom prst="rect">
            <a:avLst/>
          </a:prstGeom>
          <a:solidFill>
            <a:srgbClr val="14285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0284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950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#142857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6232" y="1783080"/>
            <a:ext cx="1051560" cy="594360"/>
          </a:xfrm>
          <a:prstGeom prst="rect">
            <a:avLst/>
          </a:prstGeom>
          <a:solidFill>
            <a:srgbClr val="193F8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56232" y="240284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900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6232" y="254203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#193F8F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1783080"/>
            <a:ext cx="1051560" cy="594360"/>
          </a:xfrm>
          <a:prstGeom prst="rect">
            <a:avLst/>
          </a:prstGeom>
          <a:solidFill>
            <a:srgbClr val="1747B6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0944" y="240284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254203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#1747B6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05656" y="1783080"/>
            <a:ext cx="1051560" cy="594360"/>
          </a:xfrm>
          <a:prstGeom prst="rect">
            <a:avLst/>
          </a:prstGeom>
          <a:solidFill>
            <a:srgbClr val="1458E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05656" y="240284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5656" y="254203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#1458E1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0368" y="1783080"/>
            <a:ext cx="1051560" cy="594360"/>
          </a:xfrm>
          <a:prstGeom prst="rect">
            <a:avLst/>
          </a:prstGeom>
          <a:solidFill>
            <a:srgbClr val="1A6E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40284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600★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54203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#1A6EF5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783080"/>
            <a:ext cx="1051560" cy="594360"/>
          </a:xfrm>
          <a:prstGeom prst="rect">
            <a:avLst/>
          </a:prstGeom>
          <a:solidFill>
            <a:srgbClr val="338D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40284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54203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#338DFF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9792" y="1783080"/>
            <a:ext cx="1051560" cy="594360"/>
          </a:xfrm>
          <a:prstGeom prst="rect">
            <a:avLst/>
          </a:prstGeom>
          <a:solidFill>
            <a:srgbClr val="59B0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240284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400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254203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#59B0FF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04504" y="1783080"/>
            <a:ext cx="1051560" cy="594360"/>
          </a:xfrm>
          <a:prstGeom prst="rect">
            <a:avLst/>
          </a:prstGeom>
          <a:solidFill>
            <a:srgbClr val="8ECD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4504" y="240284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300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04504" y="254203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#8ECDFF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9216" y="1783080"/>
            <a:ext cx="1051560" cy="594360"/>
          </a:xfrm>
          <a:prstGeom prst="rect">
            <a:avLst/>
          </a:prstGeom>
          <a:solidFill>
            <a:srgbClr val="BCE0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9216" y="240284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6" y="254203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#BCE0FF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53928" y="1783080"/>
            <a:ext cx="1051560" cy="594360"/>
          </a:xfrm>
          <a:prstGeom prst="rect">
            <a:avLst/>
          </a:prstGeom>
          <a:solidFill>
            <a:srgbClr val="EEF7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53928" y="240284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53928" y="254203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#EEF7FF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2857"/>
                </a:solidFill>
                <a:latin typeface="Calibri"/>
              </a:rPr>
              <a:t>Logo Colors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108960"/>
            <a:ext cx="2011680" cy="50292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3639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Logo Navy  #1B3A5C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20" y="3108960"/>
            <a:ext cx="2011680" cy="502920"/>
          </a:xfrm>
          <a:prstGeom prst="rect">
            <a:avLst/>
          </a:prstGeom>
          <a:solidFill>
            <a:srgbClr val="C5961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17520" y="3639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Logo Gold  #C5961E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0" y="3108960"/>
            <a:ext cx="201168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0" y="3639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Logo BG  #FAF6F1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2857"/>
                </a:solidFill>
                <a:latin typeface="Calibri"/>
              </a:rPr>
              <a:t>Accent — Orange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389120"/>
            <a:ext cx="1828800" cy="502920"/>
          </a:xfrm>
          <a:prstGeom prst="rect">
            <a:avLst/>
          </a:prstGeom>
          <a:solidFill>
            <a:srgbClr val="C2410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700  #C2410C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33472" y="4389120"/>
            <a:ext cx="1828800" cy="502920"/>
          </a:xfrm>
          <a:prstGeom prst="rect">
            <a:avLst/>
          </a:prstGeom>
          <a:solidFill>
            <a:srgbClr val="EA580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33472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600  #EA580C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35424" y="4389120"/>
            <a:ext cx="1828800" cy="502920"/>
          </a:xfrm>
          <a:prstGeom prst="rect">
            <a:avLst/>
          </a:prstGeom>
          <a:solidFill>
            <a:srgbClr val="F97316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35424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500★  #F97316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37376" y="4389120"/>
            <a:ext cx="1828800" cy="502920"/>
          </a:xfrm>
          <a:prstGeom prst="rect">
            <a:avLst/>
          </a:prstGeom>
          <a:solidFill>
            <a:srgbClr val="FB923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7376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400  #FB923C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39328" y="4389120"/>
            <a:ext cx="1828800" cy="502920"/>
          </a:xfrm>
          <a:prstGeom prst="rect">
            <a:avLst/>
          </a:prstGeom>
          <a:solidFill>
            <a:srgbClr val="FDBA7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39328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300  #FDBA74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41280" y="4389120"/>
            <a:ext cx="1828800" cy="50292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4128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50  #FFF7ED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2857"/>
                </a:solidFill>
                <a:latin typeface="Calibri"/>
              </a:rPr>
              <a:t>Success — Emerald Green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5577840"/>
            <a:ext cx="2011680" cy="457200"/>
          </a:xfrm>
          <a:prstGeom prst="rect">
            <a:avLst/>
          </a:prstGeom>
          <a:solidFill>
            <a:srgbClr val="05966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6062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600  #059669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5577840"/>
            <a:ext cx="2011680" cy="457200"/>
          </a:xfrm>
          <a:prstGeom prst="rect">
            <a:avLst/>
          </a:prstGeom>
          <a:solidFill>
            <a:srgbClr val="10B98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0" y="6062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500  #10B981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0" y="5577840"/>
            <a:ext cx="2011680" cy="457200"/>
          </a:xfrm>
          <a:prstGeom prst="rect">
            <a:avLst/>
          </a:prstGeom>
          <a:solidFill>
            <a:srgbClr val="34D39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0" y="6062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400  #34D399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0" y="5577840"/>
            <a:ext cx="201168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89520" y="6062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50  #ECFDF5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0116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B0FF"/>
                </a:solidFill>
                <a:latin typeface="Calibri"/>
              </a:rPr>
              <a:t>CredSuvidha — Trusted Partner. Swift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19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5961E"/>
                </a:solidFill>
                <a:latin typeface="Calibri"/>
              </a:rPr>
              <a:t>www.credsuvidha.com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5/12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857"/>
                </a:solidFill>
                <a:latin typeface="Calibri"/>
              </a:rPr>
              <a:t>Gradients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Signature gradients used across buttons, backgrounds, and accent elements.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2651760" cy="64008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2651760" cy="640080"/>
          </a:xfrm>
          <a:prstGeom prst="rect">
            <a:avLst/>
          </a:prstGeom>
          <a:solidFill>
            <a:srgbClr val="33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742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2857"/>
                </a:solidFill>
                <a:latin typeface="Calibri"/>
              </a:rPr>
              <a:t>Primary CTA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5000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linear-gradient(135deg, #1a6ef5, #338dff)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1750161" cy="640080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81681" y="2651760"/>
            <a:ext cx="1803196" cy="64008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4877" y="2651760"/>
            <a:ext cx="1750161" cy="640080"/>
          </a:xfrm>
          <a:prstGeom prst="rect">
            <a:avLst/>
          </a:prstGeom>
          <a:solidFill>
            <a:srgbClr val="33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172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2857"/>
                </a:solidFill>
                <a:latin typeface="Calibri"/>
              </a:rPr>
              <a:t>Hero / Header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9300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linear-gradient(135deg, #142857 → #1a6ef5 → #338dff)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94760"/>
            <a:ext cx="2651760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3794760"/>
            <a:ext cx="2651760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602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2857"/>
                </a:solidFill>
                <a:latin typeface="Calibri"/>
              </a:rPr>
              <a:t>Accent CTA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3600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linear-gradient(135deg, #f97316, #fb923c)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508760"/>
            <a:ext cx="1750161" cy="64008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9521" y="1508760"/>
            <a:ext cx="1803196" cy="640080"/>
          </a:xfrm>
          <a:prstGeom prst="rect">
            <a:avLst/>
          </a:prstGeom>
          <a:solidFill>
            <a:srgbClr val="33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62717" y="1508760"/>
            <a:ext cx="1750161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1742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2857"/>
                </a:solidFill>
                <a:latin typeface="Calibri"/>
              </a:rPr>
              <a:t>Gradient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35000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linear-gradient(135deg, #1a6ef5 → #338dff → #f97316)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651760"/>
            <a:ext cx="265176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0" y="2651760"/>
            <a:ext cx="265176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3172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2857"/>
                </a:solidFill>
                <a:latin typeface="Calibri"/>
              </a:rPr>
              <a:t>Success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49300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linear-gradient(135deg, #059669, #10b981)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794760"/>
            <a:ext cx="2651760" cy="64008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0" y="3794760"/>
            <a:ext cx="2651760" cy="640080"/>
          </a:xfrm>
          <a:prstGeom prst="rect">
            <a:avLst/>
          </a:prstGeom>
          <a:solidFill>
            <a:srgbClr val="59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4602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2857"/>
                </a:solidFill>
                <a:latin typeface="Calibri"/>
              </a:rPr>
              <a:t>Logo Badge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63600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linear-gradient(to bottom right, #1a6ef5, #59b0ff)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0116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B0FF"/>
                </a:solidFill>
                <a:latin typeface="Calibri"/>
              </a:rPr>
              <a:t>CredSuvidha — Trusted Partner. Swift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19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5961E"/>
                </a:solidFill>
                <a:latin typeface="Calibri"/>
              </a:rPr>
              <a:t>www.credsuvidha.com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6/12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857"/>
                </a:solidFill>
                <a:latin typeface="Calibri"/>
              </a:rPr>
              <a:t>Typography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Dual typeface system — clean sans-serif for body, elegant serif for display.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68580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6EF5"/>
                </a:solidFill>
                <a:latin typeface="Calibri"/>
              </a:rPr>
              <a:t>Inter — Primary Typeface (Sans-Serif)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Body text, navigation, buttons, labels, all UI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Light 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Smart Financial Solutions for a Better Tomorrow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Regular 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Smart Financial Solutions for a Better Tomorrow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71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Medium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Smart Financial Solutions for a Better Tomorrow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SemiBold 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Smart Financial Solutions for a Better Tomorrow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Bold 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Smart Financial Solutions for a Better Tomorrow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931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ExtraBold 800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Smart Financial Solutions for a Better Tomorrow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572000"/>
            <a:ext cx="6858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6EF5"/>
                </a:solidFill>
                <a:latin typeface="Calibri"/>
              </a:rPr>
              <a:t>Playfair Display — Display Typeface (Serif)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Hero headlines and special emphasis. Bold (700) and ExtraBold (800).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2857"/>
                </a:solidFill>
                <a:latin typeface="Calibri"/>
              </a:rPr>
              <a:t>Trusted Partner. Swift Solutions.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857"/>
                </a:solidFill>
                <a:latin typeface="Calibri"/>
              </a:rPr>
              <a:t>Type 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1920240"/>
            <a:ext cx="3840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2011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EF5"/>
                </a:solidFill>
                <a:latin typeface="Calibri"/>
              </a:rPr>
              <a:t>Hero H1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011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48-60px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0116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ExtraBold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4871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EF5"/>
                </a:solidFill>
                <a:latin typeface="Calibri"/>
              </a:rPr>
              <a:t>Section H2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36-40px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24871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9626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EF5"/>
                </a:solidFill>
                <a:latin typeface="Calibri"/>
              </a:rPr>
              <a:t>Card H3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9626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20-24px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9626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SemiBold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4381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EF5"/>
                </a:solidFill>
                <a:latin typeface="Calibri"/>
              </a:rPr>
              <a:t>Body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34381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14-16px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43814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Regular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913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EF5"/>
                </a:solidFill>
                <a:latin typeface="Calibri"/>
              </a:rPr>
              <a:t>Small/Label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9136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12-13px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39136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4389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EF5"/>
                </a:solidFill>
                <a:latin typeface="Calibri"/>
              </a:rPr>
              <a:t>Caption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4389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10-11px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4389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Medium, uppercase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51206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Google Fonts:
Inter: wght@300;400;500;600;700;800;900
Playfair Display: wght@700;800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0116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B0FF"/>
                </a:solidFill>
                <a:latin typeface="Calibri"/>
              </a:rPr>
              <a:t>CredSuvidha — Trusted Partner. Swift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19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5961E"/>
                </a:solidFill>
                <a:latin typeface="Calibri"/>
              </a:rPr>
              <a:t>www.credsuvidha.com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7/12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857"/>
                </a:solidFill>
                <a:latin typeface="Calibri"/>
              </a:rPr>
              <a:t>Buttons &amp; UI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857"/>
                </a:solidFill>
                <a:latin typeface="Calibri"/>
              </a:rPr>
              <a:t>Button Variants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2194560" cy="502920"/>
          </a:xfrm>
          <a:prstGeom prst="round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96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Get Started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Primary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645920"/>
            <a:ext cx="219456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696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EF5"/>
                </a:solidFill>
                <a:latin typeface="Calibri"/>
              </a:rPr>
              <a:t>Explore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945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Secondary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645920"/>
            <a:ext cx="219456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696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Apply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1945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Accent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1645920"/>
            <a:ext cx="2194560" cy="502920"/>
          </a:xfrm>
          <a:prstGeom prst="round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96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Learn More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945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468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Border-radius: 100px (pill)  •  Padding: 12px 28px  •  Font: Inter SemiBold 14px  •  Transition: 300ms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857"/>
                </a:solidFill>
                <a:latin typeface="Calibri"/>
              </a:rPr>
              <a:t>UI Effects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8328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383280"/>
            <a:ext cx="5394960" cy="381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857"/>
                </a:solidFill>
                <a:latin typeface="Calibri"/>
              </a:rPr>
              <a:t>Glass Morphism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49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bg: rgba(255,255,255,0.08)
backdrop-filter: blur(20px)
border: 1px solid rgba(255,255,255,0.15)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749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EF5"/>
                </a:solidFill>
                <a:latin typeface="Calibri"/>
              </a:rPr>
              <a:t>Usage:
Hero stats, overlaid cards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38328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383280"/>
            <a:ext cx="5394960" cy="381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857"/>
                </a:solidFill>
                <a:latin typeface="Calibri"/>
              </a:rPr>
              <a:t>Card Hover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749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transform: translateY(-8px)
box-shadow: 0 25px 60px rgba(0,0,0,0.12)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749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EF5"/>
                </a:solidFill>
                <a:latin typeface="Calibri"/>
              </a:rPr>
              <a:t>Usage:
Service cards, feature cards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0060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800600"/>
            <a:ext cx="5394960" cy="381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857"/>
                </a:solidFill>
                <a:latin typeface="Calibri"/>
              </a:rPr>
              <a:t>Pulse Glow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166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box-shadow: 0 0 20-40px
rgba(26,110,245, 0.3-0.6)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166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EF5"/>
                </a:solidFill>
                <a:latin typeface="Calibri"/>
              </a:rPr>
              <a:t>Usage:
Active states, attention draw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480060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4800600"/>
            <a:ext cx="5394960" cy="381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857"/>
                </a:solidFill>
                <a:latin typeface="Calibri"/>
              </a:rPr>
              <a:t>Scroll Reveal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166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opacity: 0→1
translateY(30px)→0
transition: 0.8s ease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5166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EF5"/>
                </a:solidFill>
                <a:latin typeface="Calibri"/>
              </a:rPr>
              <a:t>Usage:
Section entrance animations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0116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B0FF"/>
                </a:solidFill>
                <a:latin typeface="Calibri"/>
              </a:rPr>
              <a:t>CredSuvidha — Trusted Partner. Swift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19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5961E"/>
                </a:solidFill>
                <a:latin typeface="Calibri"/>
              </a:rPr>
              <a:t>www.credsuvidha.com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8/12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857"/>
                </a:solidFill>
                <a:latin typeface="Calibri"/>
              </a:rPr>
              <a:t>Brand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Four pillars that define everything we do at CredSuvidha.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08760"/>
            <a:ext cx="5303520" cy="635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1783080"/>
            <a:ext cx="640080" cy="640080"/>
          </a:xfrm>
          <a:prstGeom prst="ellipse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857"/>
                </a:solidFill>
                <a:latin typeface="Calibri"/>
              </a:rP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60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RBI regulated partners, IRDAI registered, ISO 27001 compliant. Security and compliance are at our core.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08760"/>
            <a:ext cx="5303520" cy="63500"/>
          </a:xfrm>
          <a:prstGeom prst="rect">
            <a:avLst/>
          </a:prstGeom>
          <a:solidFill>
            <a:srgbClr val="C5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C5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857"/>
                </a:solidFill>
                <a:latin typeface="Calibri"/>
              </a:rPr>
              <a:t>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Swift paperless loan approvals. Quick turnaround powered by 50+ banking partners.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1148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857"/>
                </a:solidFill>
                <a:latin typeface="Calibri"/>
              </a:rPr>
              <a:t>Expertise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920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24/7 expert support. 500+ Cr loans disbursed. 10,000+ happy customers served.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84048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840480"/>
            <a:ext cx="5303520" cy="6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0" y="411480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857"/>
                </a:solidFill>
                <a:latin typeface="Calibri"/>
              </a:rPr>
              <a:t>Simplicity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920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Clean, modern, and accessible. Making financial decisions easy for every Indian.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0116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B0FF"/>
                </a:solidFill>
                <a:latin typeface="Calibri"/>
              </a:rPr>
              <a:t>CredSuvidha — Trusted Partner. Swift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19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5961E"/>
                </a:solidFill>
                <a:latin typeface="Calibri"/>
              </a:rPr>
              <a:t>www.credsuvidha.com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9/12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857"/>
                </a:solidFill>
                <a:latin typeface="Calibri"/>
              </a:rPr>
              <a:t>Contact &amp; Compliance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53035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303520" cy="508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2857"/>
                </a:solidFill>
                <a:latin typeface="Calibri"/>
              </a:rPr>
              <a:t>Contact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EF5"/>
                </a:solidFill>
                <a:latin typeface="Calibri"/>
              </a:rPr>
              <a:t>Phone: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+91 93076 73391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EF5"/>
                </a:solidFill>
                <a:latin typeface="Calibri"/>
              </a:rPr>
              <a:t>Email: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info@credsuvidha.com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EF5"/>
                </a:solidFill>
                <a:latin typeface="Calibri"/>
              </a:rPr>
              <a:t>Website: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www.credsuvidha.com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EF5"/>
                </a:solidFill>
                <a:latin typeface="Calibri"/>
              </a:rPr>
              <a:t>Social: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Facebook • Twitter/X • LinkedIn • Instagram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280160"/>
            <a:ext cx="5029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280160"/>
            <a:ext cx="5029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2857"/>
                </a:solidFill>
                <a:latin typeface="Calibri"/>
              </a:rPr>
              <a:t>Compliance &amp; Certifications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20370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037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011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857"/>
                </a:solidFill>
                <a:latin typeface="Calibri"/>
              </a:rPr>
              <a:t>RBI Regulated Partners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286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All banking partners regulated by Reserve Bank of India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27228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722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6974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857"/>
                </a:solidFill>
                <a:latin typeface="Calibri"/>
              </a:rPr>
              <a:t>IRDAI Registered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971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Insurance products through IRDAI registered entities</a:t>
            </a:r>
          </a:p>
        </p:txBody>
      </p:sp>
      <p:sp>
        <p:nvSpPr>
          <p:cNvPr id="31" name="Oval 30"/>
          <p:cNvSpPr/>
          <p:nvPr/>
        </p:nvSpPr>
        <p:spPr>
          <a:xfrm>
            <a:off x="6766560" y="34086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408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383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857"/>
                </a:solidFill>
                <a:latin typeface="Calibri"/>
              </a:rPr>
              <a:t>ISO 27001 Compliant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657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Information security management system compliance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solidFill>
            <a:srgbClr val="EEF7FF"/>
          </a:solidFill>
          <a:ln w="6350">
            <a:solidFill>
              <a:srgbClr val="BC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Disclaimer: CredSuvidha acts as a facilitator. All financial products are subject to respective institution policies. Interest rates may vary based on individual eligibility and market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0116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B0FF"/>
                </a:solidFill>
                <a:latin typeface="Calibri"/>
              </a:rPr>
              <a:t>CredSuvidha — Trusted Partner. Swift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19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5961E"/>
                </a:solidFill>
                <a:latin typeface="Calibri"/>
              </a:rPr>
              <a:t>www.credsuvidha.com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10/12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857"/>
                </a:solidFill>
                <a:latin typeface="Calibri"/>
              </a:rPr>
              <a:t>Technical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Technology stack and dependencies powering the CredSuvidha website.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83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08760"/>
            <a:ext cx="63500" cy="192024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857"/>
                </a:solidFill>
                <a:latin typeface="Calibri"/>
              </a:rPr>
              <a:t>CSS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574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Tailwind CSS via CDN
(cdn.tailwindcss.com) with custom
brand theme configuration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508760"/>
            <a:ext cx="3383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08760"/>
            <a:ext cx="63500" cy="1920240"/>
          </a:xfrm>
          <a:prstGeom prst="rect">
            <a:avLst/>
          </a:prstGeom>
          <a:solidFill>
            <a:srgbClr val="C5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857"/>
                </a:solidFill>
                <a:latin typeface="Calibri"/>
              </a:rPr>
              <a:t>Typography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0574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Google Fonts: Inter (300-900) +
Playfair Display (700-800)
Preconnected for performance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508760"/>
            <a:ext cx="3383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508760"/>
            <a:ext cx="63500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857"/>
                </a:solidFill>
                <a:latin typeface="Calibri"/>
              </a:rPr>
              <a:t>JavaScript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574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Vanilla JS — scroll reveal,
counter animation, mobile menu,
smooth scroll, form handling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57600"/>
            <a:ext cx="3383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657600"/>
            <a:ext cx="63500" cy="1920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857"/>
                </a:solidFill>
                <a:latin typeface="Calibri"/>
              </a:rPr>
              <a:t>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Single-page HTML application
No build step required
All-in-one file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657600"/>
            <a:ext cx="3383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657600"/>
            <a:ext cx="63500" cy="1920240"/>
          </a:xfrm>
          <a:prstGeom prst="rect">
            <a:avLst/>
          </a:prstGeom>
          <a:solidFill>
            <a:srgbClr val="1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857"/>
                </a:solidFill>
                <a:latin typeface="Calibri"/>
              </a:rPr>
              <a:t>Hosting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206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Netlify (static hosting)
Custom domain: www.credsuvidha.com
Git-based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3657600"/>
            <a:ext cx="3383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80" y="3657600"/>
            <a:ext cx="63500" cy="1920240"/>
          </a:xfrm>
          <a:prstGeom prst="rect">
            <a:avLst/>
          </a:prstGeom>
          <a:solidFill>
            <a:srgbClr val="33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2857"/>
                </a:solidFill>
                <a:latin typeface="Calibri"/>
              </a:rPr>
              <a:t>Version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206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Git repository
Pushed to remote
Continuous deployment via Netlify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solidFill>
            <a:srgbClr val="EEF7FF"/>
          </a:solidFill>
          <a:ln w="6350">
            <a:solidFill>
              <a:srgbClr val="BC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Assets: logo.png • assets/images/logo.png • assets/brandkit/brand-guidelines.html • assets/brandkit/brand-tokens.json • assets/brandkit/CredSuvidha-BrandKit.pdf • assets/brandkit/CredSuvidha-BrandKit.pptx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0116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B0FF"/>
                </a:solidFill>
                <a:latin typeface="Calibri"/>
              </a:rPr>
              <a:t>CredSuvidha — Trusted Partner. Swift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519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5961E"/>
                </a:solidFill>
                <a:latin typeface="Calibri"/>
              </a:rPr>
              <a:t>www.credsuvidha.com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11/12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2857"/>
                </a:solidFill>
                <a:latin typeface="Calibr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63500" cy="54864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330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EF5"/>
                </a:solidFill>
                <a:latin typeface="Calibri"/>
              </a:rPr>
              <a:t>●  Logo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330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Interlocking C&amp;S with growth arrow — navy + gold on light backgrounds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38528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38528"/>
            <a:ext cx="63500" cy="548640"/>
          </a:xfrm>
          <a:prstGeom prst="rect">
            <a:avLst/>
          </a:prstGeom>
          <a:solidFill>
            <a:srgbClr val="1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1989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3F8F"/>
                </a:solidFill>
                <a:latin typeface="Calibri"/>
              </a:rPr>
              <a:t>●  Colors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8932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Primary #1A6EF5  •  Navy #142857  •  Accent #F97316  •  Emerald #10B981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96896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596896"/>
            <a:ext cx="63500" cy="548640"/>
          </a:xfrm>
          <a:prstGeom prst="rect">
            <a:avLst/>
          </a:prstGeom>
          <a:solidFill>
            <a:srgbClr val="C5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6476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961E"/>
                </a:solidFill>
                <a:latin typeface="Calibri"/>
              </a:rPr>
              <a:t>●  Typography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64769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Inter (sans-serif) for everything  •  Playfair Display (serif) for display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55264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255264"/>
            <a:ext cx="635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3060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●  Buttons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30606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4 variants: Primary, Secondary, Accent, Dark — all pill-shaped (100px radius)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13632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913632"/>
            <a:ext cx="635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964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● 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96443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Trust, Speed, Expertise, Simplicity — every decision guided by these pillars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572000"/>
            <a:ext cx="63500" cy="54864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622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EF5"/>
                </a:solidFill>
                <a:latin typeface="Calibri"/>
              </a:rPr>
              <a:t>●  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622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RBI Regulated  •  IRDAI Registered  •  ISO 27001 Compliant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230368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230368"/>
            <a:ext cx="63500" cy="548640"/>
          </a:xfrm>
          <a:prstGeom prst="rect">
            <a:avLst/>
          </a:prstGeom>
          <a:solidFill>
            <a:srgbClr val="1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28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3F8F"/>
                </a:solidFill>
                <a:latin typeface="Calibri"/>
              </a:rPr>
              <a:t>●  Tech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28116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Tailwind CSS + Inter/Playfair fonts + Vanilla JS → Netlify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193F8F"/>
                </a:solidFill>
                <a:latin typeface="Calibri"/>
              </a:rPr>
              <a:t>This brand kit is a living document — update as CredSuvidha evolves. Consistency builds trust.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6096304" cy="381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2926080"/>
            <a:ext cx="6095390" cy="38100"/>
          </a:xfrm>
          <a:prstGeom prst="rect">
            <a:avLst/>
          </a:prstGeom>
          <a:solidFill>
            <a:srgbClr val="C5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457200"/>
            <a:ext cx="4572000" cy="24938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0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9B0FF"/>
                </a:solidFill>
                <a:latin typeface="Calibri"/>
              </a:rPr>
              <a:t>+91 93076 73391  •  info@credsuvidha.com  •  www.credsuvidha.com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Trusted Partner. </a:t>
            </a:r>
            <a:r>
              <a:rPr sz="2000" b="1" i="0">
                <a:solidFill>
                  <a:srgbClr val="C5961E"/>
                </a:solidFill>
                <a:latin typeface="Calibri"/>
              </a:rPr>
              <a:t>Swift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© 2025 CredSuvidha. All rights reserved.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